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B7B6B">
              <a:alpha val="28000"/>
            </a:srgbClr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108960" cy="3108960"/>
          </a:xfrm>
          <a:prstGeom prst="ellipse">
            <a:avLst/>
          </a:prstGeom>
          <a:solidFill>
            <a:srgbClr val="0B7B6B">
              <a:alpha val="22000"/>
            </a:srgbClr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USIU-AFRICA  ·  DSA 3900 — Data Science Research Proposal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585216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898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Maternal Health Risk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19385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Pregnant Women in Kenya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97280" y="25237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· Bayesian Inference · AI-Powered Decision Support · KDHS 2022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6080" y="2889504"/>
            <a:ext cx="3291840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99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Selmah Tzindori Mise  ·  ID: 669602  ·  B.Sc. Data Science &amp; Analytics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2552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USIU-Africa, Nairobi, Kenya   ·   Summer Semester 2026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3749040"/>
            <a:ext cx="2743200" cy="420624"/>
          </a:xfrm>
          <a:prstGeom prst="roundRect">
            <a:avLst>
              <a:gd name="adj" fmla="val 47826"/>
            </a:avLst>
          </a:prstGeom>
          <a:solidFill>
            <a:srgbClr val="02C39A">
              <a:alpha val="86000"/>
            </a:srgbClr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3749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FULL PROPOSAL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02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and justification for this research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78992"/>
            <a:ext cx="2816352" cy="1481328"/>
          </a:xfrm>
          <a:prstGeom prst="roundRect">
            <a:avLst>
              <a:gd name="adj" fmla="val 4938"/>
            </a:avLst>
          </a:prstGeom>
          <a:solidFill>
            <a:srgbClr val="0F26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133856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7472" y="166420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deaths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live births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Kenya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19456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WHO/KDHS 2022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18688" y="1078992"/>
            <a:ext cx="2816352" cy="1481328"/>
          </a:xfrm>
          <a:prstGeom prst="roundRect">
            <a:avLst>
              <a:gd name="adj" fmla="val 4938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133856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births attended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 skilled health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KDHS 2022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181344" y="1078992"/>
            <a:ext cx="2816352" cy="1481328"/>
          </a:xfrm>
          <a:prstGeom prst="roundRect">
            <a:avLst>
              <a:gd name="adj" fmla="val 4938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133856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72784" y="166420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Workers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data-driven</a:t>
            </a:r>
            <a:endParaRPr lang="en-US" sz="8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tool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72784" y="219456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Kenya MOH 2025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6032" y="2523744"/>
            <a:ext cx="4315968" cy="2103120"/>
          </a:xfrm>
          <a:prstGeom prst="roundRect">
            <a:avLst>
              <a:gd name="adj" fmla="val 3478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5968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2889504"/>
            <a:ext cx="4059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Haemorrhage, hypertensive disorders, and sepsis cause most deaths — yet most are preventable with timely identification and referral. Kenya's rate is 5× the SDG 3.1 target of 70/100,000.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4315968" cy="2103120"/>
          </a:xfrm>
          <a:prstGeom prst="roundRect">
            <a:avLst>
              <a:gd name="adj" fmla="val 3478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82896" y="25968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Opportunity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82896" y="2889504"/>
            <a:ext cx="4059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has deployed eCHIS across 47 counties with 100,000+ Community Health Promoters. The 2023 Digital Health Act signals political will for data-driven UHC — but no predictive risk module exists yet.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03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of the Problem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gap this project fills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78992"/>
            <a:ext cx="5120640" cy="3712464"/>
          </a:xfrm>
          <a:prstGeom prst="roundRect">
            <a:avLst>
              <a:gd name="adj" fmla="val 1970"/>
            </a:avLst>
          </a:prstGeom>
          <a:solidFill>
            <a:srgbClr val="0F26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5214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1133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4813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Kenya's CHWs visit pregnant women daily but use paper checklists with no data-driven tool to identify high-risk cases before a crisis occurs.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" y="2194560"/>
            <a:ext cx="4828032" cy="0"/>
          </a:xfrm>
          <a:prstGeom prst="line">
            <a:avLst/>
          </a:prstGeom>
          <a:noFill/>
          <a:ln w="6350">
            <a:solidFill>
              <a:srgbClr val="E11D48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384048" y="226771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F5F0"/>
                </a:solidFill>
              </a:rPr>
              <a:t>What existing tools have NOT done: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2615184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57860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individual-level ML risk tool deployed for CHWs in Kenya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84048" y="2889504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85292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County-level models cannot identify which specific woman is at risk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384048" y="3163824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312724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Hospital-based models require clinical data unavailable in the field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84048" y="3438144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40156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provides Bayesian-calibrated probability scores per prediction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384048" y="3712464"/>
            <a:ext cx="73152" cy="731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367588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deployed tool generates explanations or referral letters for CHWs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5541264" y="1078992"/>
            <a:ext cx="3346704" cy="3712464"/>
          </a:xfrm>
          <a:prstGeom prst="roundRect">
            <a:avLst>
              <a:gd name="adj" fmla="val 2186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5214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016752" y="1133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669280" y="1481328"/>
            <a:ext cx="3090672" cy="1682496"/>
          </a:xfrm>
          <a:prstGeom prst="roundRect">
            <a:avLst>
              <a:gd name="adj" fmla="val 4348"/>
            </a:avLst>
          </a:prstGeom>
          <a:solidFill>
            <a:srgbClr val="0B7B6B">
              <a:alpha val="6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60720" y="1554480"/>
            <a:ext cx="29077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88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machine learning, Bayesian inference, and AI integration be combined to build an accurate, interpretable, and deployable maternal risk tool for CHWs in Kenya using the KDHS 2022?</a:t>
            </a:r>
            <a:endParaRPr lang="en-US" sz="880" dirty="0"/>
          </a:p>
        </p:txBody>
      </p:sp>
      <p:sp>
        <p:nvSpPr>
          <p:cNvPr id="29" name="Shape 25"/>
          <p:cNvSpPr/>
          <p:nvPr/>
        </p:nvSpPr>
        <p:spPr>
          <a:xfrm>
            <a:off x="5669280" y="3255264"/>
            <a:ext cx="3090672" cy="0"/>
          </a:xfrm>
          <a:prstGeom prst="line">
            <a:avLst/>
          </a:prstGeom>
          <a:noFill/>
          <a:ln w="6350">
            <a:solidFill>
              <a:srgbClr val="02C39A"/>
            </a:solidFill>
            <a:prstDash val="dash"/>
          </a:ln>
        </p:spPr>
      </p:sp>
      <p:sp>
        <p:nvSpPr>
          <p:cNvPr id="30" name="Text 26"/>
          <p:cNvSpPr/>
          <p:nvPr/>
        </p:nvSpPr>
        <p:spPr>
          <a:xfrm>
            <a:off x="5669280" y="332841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3.1 Alignment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669280" y="3584448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global maternal mortality to below 70 per 100,000 live births by 2030 — this project directly supports that target.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04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Research Questions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objective + three specific objectives with corresponding research 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42416"/>
            <a:ext cx="8631936" cy="713232"/>
          </a:xfrm>
          <a:prstGeom prst="roundRect">
            <a:avLst>
              <a:gd name="adj" fmla="val 10256"/>
            </a:avLst>
          </a:prstGeom>
          <a:solidFill>
            <a:srgbClr val="0B7B6B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1078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Objective: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1316736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develop an ML-based maternal health risk prediction system classifying pregnant women in Kenya as Low, Moderate, or High risk using KDHS 2022, with Bayesian uncertainty quantification and an AI-powered CHW decision support interface.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256032" y="1883664"/>
            <a:ext cx="8631936" cy="877824"/>
          </a:xfrm>
          <a:prstGeom prst="roundRect">
            <a:avLst>
              <a:gd name="adj" fmla="val 8333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" y="197510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26"/>
                </a:solidFill>
              </a:rPr>
              <a:t>SO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9536" y="1956816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evaluate ML models (including novel TabNet and TabTransformer) to classify individual maternal risk as Low, Moderate, or High using 13 KDHS 2022 variables.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846320" y="2011680"/>
            <a:ext cx="0" cy="603504"/>
          </a:xfrm>
          <a:prstGeom prst="line">
            <a:avLst/>
          </a:prstGeom>
          <a:noFill/>
          <a:ln w="10160">
            <a:solidFill>
              <a:srgbClr val="02C39A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974336" y="1956816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Which ML architecture achieves the highest predictive accuracy and High Risk recall on the KDHS 2022 dataset?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256032" y="2852928"/>
            <a:ext cx="8631936" cy="877824"/>
          </a:xfrm>
          <a:prstGeom prst="roundRect">
            <a:avLst>
              <a:gd name="adj" fmla="val 8333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" y="294436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26"/>
                </a:solidFill>
              </a:rPr>
              <a:t>SO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9536" y="2926080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Bayesian inference (PyMC) to generate calibrated probability scores with 95% credible intervals for each prediction.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4846320" y="2980944"/>
            <a:ext cx="0" cy="603504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4974336" y="2926080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How do Bayesian credible intervals improve the actionability of maternal risk predictions compared to point-estimate outputs?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256032" y="3822192"/>
            <a:ext cx="8631936" cy="877824"/>
          </a:xfrm>
          <a:prstGeom prst="roundRect">
            <a:avLst>
              <a:gd name="adj" fmla="val 8333"/>
            </a:avLst>
          </a:prstGeom>
          <a:solidFill>
            <a:srgbClr val="0F26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7472" y="391363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26"/>
                </a:solidFill>
              </a:rPr>
              <a:t>SO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59536" y="3895344"/>
            <a:ext cx="3895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deploy an AI-integrated Streamlit web app presenting risk scores, SHAP explanations, care recommendations, and referral letters in English and Swahili.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4846320" y="3950208"/>
            <a:ext cx="0" cy="603504"/>
          </a:xfrm>
          <a:prstGeom prst="line">
            <a:avLst/>
          </a:prstGeom>
          <a:noFill/>
          <a:ln w="10160">
            <a:solidFill>
              <a:srgbClr val="E11D48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4974336" y="3895344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RQ3: To what extent does the AI explanation layer improve interpretability and usability for non-technical Community Health Workers?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Literature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05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review + empirical review by objective — 2023–2026 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42416"/>
            <a:ext cx="4279392" cy="3767328"/>
          </a:xfrm>
          <a:prstGeom prst="roundRect">
            <a:avLst>
              <a:gd name="adj" fmla="val 1942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1556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0972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Literature Review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4048" y="1517904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46304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Mortality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1700784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MMR 355/100K — 5× SDG 3.1 target. Most deaths preventable (WHO 2023; KDHS 2023)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4048" y="2322576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26771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Digital Health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2505456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eCHIS deployed nationally with 100K+ CHPs. 2023 Digital Health Act. No predictive ML module exists (Ombech et al., 2025)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4048" y="3127248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07238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ML Architectures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3310128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TabNet (AAAI 2021) &amp; TabTransformer outperform classical models on tabular health data (Doshi et al., 2025; Sumon et al., 2025)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84048" y="3931920"/>
            <a:ext cx="73152" cy="731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87705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(XAI)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4114800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&amp; LIME most adopted for clinical trust. CHWs prefer AI tools with plain-language explanations (Mamun et al., 2025)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0016" y="1042416"/>
            <a:ext cx="4187952" cy="3767328"/>
          </a:xfrm>
          <a:prstGeom prst="roundRect">
            <a:avLst>
              <a:gd name="adj" fmla="val 1942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15568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75504" y="10972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Literature Review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828032" y="146304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0B2B26"/>
          </a:solidFill>
          <a:ln w="8890">
            <a:solidFill>
              <a:srgbClr val="02C39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37760" y="151790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SO1 — ML Models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937760" y="1755648"/>
            <a:ext cx="3712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Khadidos et al. (2025): Boosting models outperform LR on recall. Mamun et al. (2025): 99.5% accuracy with Bagging + SHAP. No TabNet on KDHS → our gap.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828032" y="256032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0B2B26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37760" y="261518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SO2 — Bayesian Inference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937760" y="2852928"/>
            <a:ext cx="3712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Sheridan et al. (2025): Bayesian Networks outperform classifiers for pregnancy outcomes. No Bayesian-DL hybrid on KDHS → our gap.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828032" y="365760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0B2B26"/>
          </a:solidFill>
          <a:ln w="8890">
            <a:solidFill>
              <a:srgbClr val="E11D4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37760" y="371246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SO3 — AI-Powered CHW Tools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937760" y="3950208"/>
            <a:ext cx="3712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Ombech et al. (2025): Digital health improved ANC uptake in Kenya but lacks predictive analytics. AI-powered CHW explanation tool in Kenya → our gap.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06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Research Design &amp; Data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framework · KDHS 2022 · 5-phase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42416"/>
            <a:ext cx="4279392" cy="3767328"/>
          </a:xfrm>
          <a:prstGeom prst="roundRect">
            <a:avLst>
              <a:gd name="adj" fmla="val 1942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Paradigm: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103120" y="1444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Post-positivist · Quantitative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84048" y="182880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103120" y="18288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Non-experimental secondary data analysis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84048" y="22128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103120" y="2212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5-phase pipeline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84048" y="259689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Analysis: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103120" y="25968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pregnant woman (15–49 yrs)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84048" y="298094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103120" y="29809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KDHS 2022 Individual Recode (IR)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84048" y="33649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103120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10,391 women with complete birth records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84048" y="374904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103120" y="3749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maternal health &amp; demographic variables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84048" y="413308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103120" y="4133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— Kenya 47 counties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700016" y="1042416"/>
            <a:ext cx="4187952" cy="3767328"/>
          </a:xfrm>
          <a:prstGeom prst="roundRect">
            <a:avLst>
              <a:gd name="adj" fmla="val 1942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Pipeline (5 Phases)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149961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6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148132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30368" y="1700784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KDHS 2022 IR · 32,156 records · 5,925 variables · filtered to 10,391 women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974336" y="1847088"/>
            <a:ext cx="0" cy="256032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828032" y="215798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6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213969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30368" y="2359152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 · Encoding · StandardScaler · SMOTE on training set only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974336" y="2505456"/>
            <a:ext cx="0" cy="256032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28032" y="281635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6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2798064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30368" y="3017520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3-class risk target from 8 WHO-based clinical risk flags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974336" y="3163824"/>
            <a:ext cx="0" cy="256032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28032" y="347472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6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345643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30368" y="3675888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Classical Ensemble → TabNet/TabTransformer → Stacking Meta-Ensemble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4974336" y="3822192"/>
            <a:ext cx="0" cy="256032"/>
          </a:xfrm>
          <a:prstGeom prst="line">
            <a:avLst/>
          </a:prstGeom>
          <a:noFill/>
          <a:ln w="10160">
            <a:solidFill>
              <a:srgbClr val="F59E0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828032" y="41330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6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411480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30368" y="4334256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· PyMC Bayesian layer · AI API integration · English &amp; Swahili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07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Models &amp; Evaluation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architecture · Bayesian inference · SHAP explainability · Optuna tuning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42416"/>
            <a:ext cx="2121408" cy="2139696"/>
          </a:xfrm>
          <a:prstGeom prst="roundRect">
            <a:avLst>
              <a:gd name="adj" fmla="val 4310"/>
            </a:avLst>
          </a:prstGeom>
          <a:solidFill>
            <a:srgbClr val="0F2620"/>
          </a:solidFill>
          <a:ln w="1016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" y="109728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49961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04825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4825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042416"/>
            <a:ext cx="2121408" cy="2139696"/>
          </a:xfrm>
          <a:prstGeom prst="roundRect">
            <a:avLst>
              <a:gd name="adj" fmla="val 4310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42032" y="109728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0" y="149961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1A9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0" y="204825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1A9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04825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259689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1A9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59689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1042416"/>
            <a:ext cx="2121408" cy="2139696"/>
          </a:xfrm>
          <a:prstGeom prst="roundRect">
            <a:avLst>
              <a:gd name="adj" fmla="val 4310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09728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149961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(AAAI 2021)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73168" y="204825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04825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TabTransformer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(arXiv 2020)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73168" y="2596896"/>
            <a:ext cx="1938528" cy="310896"/>
          </a:xfrm>
          <a:prstGeom prst="roundRect">
            <a:avLst>
              <a:gd name="adj" fmla="val 17647"/>
            </a:avLst>
          </a:prstGeom>
          <a:solidFill>
            <a:srgbClr val="02C39A">
              <a:alpha val="78000"/>
            </a:srgbClr>
          </a:solidFill>
          <a:ln w="889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59689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★ Novel Models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94576" y="1042416"/>
            <a:ext cx="2121408" cy="2139696"/>
          </a:xfrm>
          <a:prstGeom prst="roundRect">
            <a:avLst>
              <a:gd name="adj" fmla="val 4310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67728" y="109728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86016" y="1499616"/>
            <a:ext cx="1938528" cy="475488"/>
          </a:xfrm>
          <a:prstGeom prst="roundRect">
            <a:avLst>
              <a:gd name="adj" fmla="val 13462"/>
            </a:avLst>
          </a:prstGeom>
          <a:solidFill>
            <a:srgbClr val="0B2B26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Ensemble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TabNet + XGBoost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CatBoost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(Meta: LR)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273552"/>
            <a:ext cx="8631936" cy="237744"/>
          </a:xfrm>
          <a:prstGeom prst="roundRect">
            <a:avLst>
              <a:gd name="adj" fmla="val 30769"/>
            </a:avLst>
          </a:prstGeom>
          <a:solidFill>
            <a:srgbClr val="0B7B6B">
              <a:alpha val="60000"/>
            </a:srgbClr>
          </a:solidFill>
          <a:ln w="7620">
            <a:solidFill>
              <a:srgbClr val="1A9E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3273552"/>
            <a:ext cx="8485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E8F5F0"/>
                </a:solidFill>
              </a:rPr>
              <a:t>Hyperparameter optimisation: Optuna — 100 trials · 5-fold stratified CV for all Tier 2–4 models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56032" y="3621024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0F26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10896" y="36941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Risk)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0896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cases</a:t>
            </a:r>
            <a:endParaRPr lang="en-US" sz="82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preventable deaths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993392" y="3621024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048256" y="36941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(macro)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048256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Discrimination</a:t>
            </a:r>
            <a:endParaRPr lang="en-US" sz="82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classes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730752" y="3621024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85616" y="36941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(macro)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85616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Precision-recall</a:t>
            </a:r>
            <a:endParaRPr lang="en-US" sz="82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468112" y="3621024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22976" y="36941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22976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multi-class</a:t>
            </a:r>
            <a:endParaRPr lang="en-US" sz="82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 data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7205472" y="3621024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0F2620"/>
          </a:solidFill>
          <a:ln w="1016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60336" y="36941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60336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probability</a:t>
            </a:r>
            <a:endParaRPr lang="en-US" sz="82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quality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Expected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08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 &amp; Outputs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Anticipated deliverables, contributions, and impact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42416"/>
            <a:ext cx="2816352" cy="1938528"/>
          </a:xfrm>
          <a:prstGeom prst="roundRect">
            <a:avLst>
              <a:gd name="adj" fmla="val 4717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26464" y="1115568"/>
            <a:ext cx="438912" cy="438912"/>
          </a:xfrm>
          <a:prstGeom prst="ellipse">
            <a:avLst/>
          </a:prstGeom>
          <a:solidFill>
            <a:srgbClr val="02C39A">
              <a:alpha val="80000"/>
            </a:srgbClr>
          </a:solidFill>
          <a:ln w="15240">
            <a:solidFill>
              <a:srgbClr val="02C39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52144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15910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Classification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7472" y="186537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ensemble achieving &gt;85% macro AUC-ROC and &gt;80% High Risk recall on the KDHS 2022 test set. TabNet/TabTransformer as the primary novel architecture.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18688" y="1042416"/>
            <a:ext cx="2816352" cy="1938528"/>
          </a:xfrm>
          <a:prstGeom prst="roundRect">
            <a:avLst>
              <a:gd name="adj" fmla="val 4717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115568"/>
            <a:ext cx="438912" cy="438912"/>
          </a:xfrm>
          <a:prstGeom prst="ellipse">
            <a:avLst/>
          </a:prstGeom>
          <a:solidFill>
            <a:srgbClr val="F59E0B">
              <a:alpha val="80000"/>
            </a:srgbClr>
          </a:solidFill>
          <a:ln w="1524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15214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5910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Risk Score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10128" y="186537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PyMC posterior probability outputs with 95% credible intervals per prediction — e.g. 'High Risk: 84%, CI: 76–91%'. Validated by Brier score calibration analysis.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81344" y="1042416"/>
            <a:ext cx="2816352" cy="1938528"/>
          </a:xfrm>
          <a:prstGeom prst="roundRect">
            <a:avLst>
              <a:gd name="adj" fmla="val 4717"/>
            </a:avLst>
          </a:prstGeom>
          <a:solidFill>
            <a:srgbClr val="0F26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51776" y="1115568"/>
            <a:ext cx="438912" cy="438912"/>
          </a:xfrm>
          <a:prstGeom prst="ellipse">
            <a:avLst/>
          </a:prstGeom>
          <a:solidFill>
            <a:srgbClr val="E11D48">
              <a:alpha val="80000"/>
            </a:srgbClr>
          </a:solidFill>
          <a:ln w="15240">
            <a:solidFill>
              <a:srgbClr val="E11D4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15214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2784" y="15910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 CHW App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72784" y="1865376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Streamlit application with AI API integration — generates plain-language explanations, care recommendations, and referral letters in English and Swahili.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56032" y="3108960"/>
            <a:ext cx="2084832" cy="1609344"/>
          </a:xfrm>
          <a:prstGeom prst="roundRect">
            <a:avLst>
              <a:gd name="adj" fmla="val 4545"/>
            </a:avLst>
          </a:prstGeom>
          <a:solidFill>
            <a:srgbClr val="0F2620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97280" y="3182112"/>
            <a:ext cx="402336" cy="402336"/>
          </a:xfrm>
          <a:prstGeom prst="ellipse">
            <a:avLst/>
          </a:prstGeom>
          <a:solidFill>
            <a:srgbClr val="02C39A">
              <a:alpha val="78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21868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7472" y="36210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47472" y="3895344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CHWs refer high-risk women before complications occur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2487168" y="3108960"/>
            <a:ext cx="2084832" cy="1609344"/>
          </a:xfrm>
          <a:prstGeom prst="roundRect">
            <a:avLst>
              <a:gd name="adj" fmla="val 4545"/>
            </a:avLst>
          </a:prstGeom>
          <a:solidFill>
            <a:srgbClr val="0F2620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28416" y="3182112"/>
            <a:ext cx="402336" cy="402336"/>
          </a:xfrm>
          <a:prstGeom prst="ellipse">
            <a:avLst/>
          </a:prstGeom>
          <a:solidFill>
            <a:srgbClr val="F59E0B">
              <a:alpha val="7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21868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78608" y="36210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2578608" y="3895344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47-county risk dashboard for MOH &amp; NGO allocation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718304" y="3108960"/>
            <a:ext cx="2084832" cy="1609344"/>
          </a:xfrm>
          <a:prstGeom prst="roundRect">
            <a:avLst>
              <a:gd name="adj" fmla="val 4545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559552" y="3182112"/>
            <a:ext cx="402336" cy="402336"/>
          </a:xfrm>
          <a:prstGeom prst="ellipse">
            <a:avLst/>
          </a:prstGeom>
          <a:solidFill>
            <a:srgbClr val="1A9E8A">
              <a:alpha val="78000"/>
            </a:srgbClr>
          </a:solidFill>
          <a:ln w="12700">
            <a:solidFill>
              <a:srgbClr val="1A9E8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3218688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809744" y="36210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809744" y="3895344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Bayesian-DL maternal risk tool on KDHS 2022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6949440" y="3108960"/>
            <a:ext cx="2084832" cy="1609344"/>
          </a:xfrm>
          <a:prstGeom prst="roundRect">
            <a:avLst>
              <a:gd name="adj" fmla="val 4545"/>
            </a:avLst>
          </a:prstGeom>
          <a:solidFill>
            <a:srgbClr val="0F26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7790688" y="3182112"/>
            <a:ext cx="402336" cy="402336"/>
          </a:xfrm>
          <a:prstGeom prst="ellipse">
            <a:avLst/>
          </a:prstGeom>
          <a:solidFill>
            <a:srgbClr val="E11D48">
              <a:alpha val="78000"/>
            </a:srgbClr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3218688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040880" y="36210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7040880" y="3895344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integration in CHW tools — first in Kenya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Timeline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09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Two-semester plan — Proposal (Summer 2026) + Implementation (Fall 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024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23360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25696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828032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W4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230368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W5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32704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035040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W7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37376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W8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839712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242048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W10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644384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W11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46720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W12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449056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W13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851392" y="104241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W14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" y="1316736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13167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1 — PROPOSAL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01952" y="133502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9E8A"/>
                </a:solidFill>
              </a:rPr>
              <a:t>Summer Semester 2026 (Weeks 1–14)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6032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+ Problem Statement + Literature Review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21024" y="166420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166420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5696" y="166420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30368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32704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7376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39712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49056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51392" y="166420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Access + Methodology Draft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621024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25696" y="2011680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2011680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30368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32704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37376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39712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42048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44384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46720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49056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51392" y="2011680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 + Scope + Gantt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621024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23360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25696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28032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0368" y="2359152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32704" y="2359152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35040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37376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39712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42048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44384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46720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49056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51392" y="2359152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Note Presentation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621024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25696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28032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30368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32704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35040" y="2706624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37376" y="2706624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39712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42048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644384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46720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49056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51392" y="2706624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Proposal + NACOSTI/IRB Submission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3621024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23360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425696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28032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30368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32704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35040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37376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39712" y="3054096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242048" y="3054096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44384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046720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49056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51392" y="3054096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56032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Defense &amp; Submission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3621024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23360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25696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28032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230368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632704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035040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37376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39712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42048" y="3401568"/>
            <a:ext cx="374904" cy="237744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44384" y="340156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46720" y="340156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49056" y="340156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851392" y="3401568"/>
            <a:ext cx="374904" cy="237744"/>
          </a:xfrm>
          <a:prstGeom prst="rect">
            <a:avLst/>
          </a:prstGeom>
          <a:solidFill>
            <a:srgbClr val="1A9E8A"/>
          </a:solidFill>
          <a:ln w="5080">
            <a:solidFill>
              <a:srgbClr val="1A9E8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56032" y="3785616"/>
            <a:ext cx="1572768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56032" y="37856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2B26"/>
                </a:solidFill>
              </a:rPr>
              <a:t>PHASE 2 — IMPLEMENTATION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1901952" y="38039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Fall Semester 2026 (Weeks 1–14)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256032" y="4096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+ EDA + Feature engineering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3621024" y="4114800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023360" y="4114800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425696" y="4114800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28032" y="4114800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30368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632704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35040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37376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839712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242048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644384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449056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851392" y="4114800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56032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+ Advanced ML models + Optuna tuning</a:t>
            </a:r>
            <a:endParaRPr lang="en-US" sz="780" dirty="0"/>
          </a:p>
        </p:txBody>
      </p:sp>
      <p:sp>
        <p:nvSpPr>
          <p:cNvPr id="134" name="Shape 132"/>
          <p:cNvSpPr/>
          <p:nvPr/>
        </p:nvSpPr>
        <p:spPr>
          <a:xfrm>
            <a:off x="3621024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023360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425696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828032" y="4443984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30368" y="4443984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632704" y="4443984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35040" y="4443984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37376" y="4443984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839712" y="4443984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242048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644384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46720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449056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851392" y="4443984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56032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inference + SHAP + AI API integration</a:t>
            </a:r>
            <a:endParaRPr lang="en-US" sz="780" dirty="0"/>
          </a:p>
        </p:txBody>
      </p:sp>
      <p:sp>
        <p:nvSpPr>
          <p:cNvPr id="149" name="Shape 147"/>
          <p:cNvSpPr/>
          <p:nvPr/>
        </p:nvSpPr>
        <p:spPr>
          <a:xfrm>
            <a:off x="3621024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023360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425696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828032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230368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632704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35040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437376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839712" y="4773168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242048" y="4773168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44384" y="4773168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046720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449056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851392" y="4773168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56032" y="5084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+ Testing + Final Report + Defense</a:t>
            </a:r>
            <a:endParaRPr lang="en-US" sz="780" dirty="0"/>
          </a:p>
        </p:txBody>
      </p:sp>
      <p:sp>
        <p:nvSpPr>
          <p:cNvPr id="164" name="Shape 162"/>
          <p:cNvSpPr/>
          <p:nvPr/>
        </p:nvSpPr>
        <p:spPr>
          <a:xfrm>
            <a:off x="3621024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023360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425696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828032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230368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632704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035040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37376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839712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42048" y="5102352"/>
            <a:ext cx="374904" cy="219456"/>
          </a:xfrm>
          <a:prstGeom prst="rect">
            <a:avLst/>
          </a:prstGeom>
          <a:solidFill>
            <a:srgbClr val="0B2B26"/>
          </a:solidFill>
          <a:ln w="5080">
            <a:solidFill>
              <a:srgbClr val="1A2A0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44384" y="5102352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46720" y="5102352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49056" y="5102352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51392" y="5102352"/>
            <a:ext cx="374904" cy="219456"/>
          </a:xfrm>
          <a:prstGeom prst="rect">
            <a:avLst/>
          </a:prstGeom>
          <a:solidFill>
            <a:srgbClr val="F59E0B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766560" y="1316736"/>
            <a:ext cx="256032" cy="128016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059168" y="12984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9E8A"/>
                </a:solidFill>
              </a:rPr>
              <a:t>Proposal active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6766560" y="1481328"/>
            <a:ext cx="25603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059168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Implementation active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0B7B6B">
              <a:alpha val="75000"/>
            </a:srgbClr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Budget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10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34747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" y="768096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costs for both phases — mostly free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42416"/>
            <a:ext cx="2816352" cy="292608"/>
          </a:xfrm>
          <a:prstGeom prst="rect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04241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Budget Item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90672" y="1042416"/>
            <a:ext cx="2414016" cy="292608"/>
          </a:xfrm>
          <a:prstGeom prst="rect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10424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Purpose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22976" y="1042416"/>
            <a:ext cx="1243584" cy="292608"/>
          </a:xfrm>
          <a:prstGeom prst="rect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0424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84848" y="1042416"/>
            <a:ext cx="1060704" cy="292608"/>
          </a:xfrm>
          <a:prstGeom prst="rect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104241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42416"/>
            <a:ext cx="914400" cy="292608"/>
          </a:xfrm>
          <a:prstGeom prst="rect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1042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353312"/>
            <a:ext cx="2816352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533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AI API Credits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0672" y="1353312"/>
            <a:ext cx="2414016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5331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 &amp; referral generation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22976" y="1353312"/>
            <a:ext cx="124358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35331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84848" y="1353312"/>
            <a:ext cx="106070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135331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$5.00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63840" y="1353312"/>
            <a:ext cx="914400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8704" y="13533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645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1737360"/>
            <a:ext cx="2816352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173736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(free tier)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90672" y="1737360"/>
            <a:ext cx="2414016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5536" y="17373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ML training environment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22976" y="1737360"/>
            <a:ext cx="124358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7373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84848" y="1737360"/>
            <a:ext cx="106070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17373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63840" y="1737360"/>
            <a:ext cx="914400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18704" y="17373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2121408"/>
            <a:ext cx="2816352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212140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Community Cloud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90672" y="2121408"/>
            <a:ext cx="2414016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45536" y="21214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deployment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22976" y="2121408"/>
            <a:ext cx="124358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12140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84848" y="2121408"/>
            <a:ext cx="106070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212140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63840" y="2121408"/>
            <a:ext cx="914400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18704" y="21214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2505456"/>
            <a:ext cx="2816352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250545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 Program Data Access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090672" y="2505456"/>
            <a:ext cx="2414016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45536" y="25054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KDHS 2022 dataset (academic)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22976" y="2505456"/>
            <a:ext cx="124358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250545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84848" y="2505456"/>
            <a:ext cx="106070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9712" y="250545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863840" y="2505456"/>
            <a:ext cx="914400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18704" y="25054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6032" y="2889504"/>
            <a:ext cx="2816352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288950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(free tier)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90672" y="2889504"/>
            <a:ext cx="2414016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45536" y="28895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version control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22976" y="2889504"/>
            <a:ext cx="124358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7840" y="288950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784848" y="2889504"/>
            <a:ext cx="106070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39712" y="2889504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863840" y="2889504"/>
            <a:ext cx="914400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18704" y="28895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56032" y="3273552"/>
            <a:ext cx="2816352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" y="327355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NACOSTI Submission Fee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090672" y="3273552"/>
            <a:ext cx="2414016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45536" y="32735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clearance application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522976" y="3273552"/>
            <a:ext cx="124358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3273552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784848" y="3273552"/>
            <a:ext cx="106070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39712" y="327355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863840" y="3273552"/>
            <a:ext cx="914400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18704" y="3273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1,000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56032" y="3657600"/>
            <a:ext cx="2816352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0896" y="365760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&amp; Binding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090672" y="3657600"/>
            <a:ext cx="2414016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45536" y="36576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final report copy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522976" y="3657600"/>
            <a:ext cx="124358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0" y="365760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784848" y="3657600"/>
            <a:ext cx="1060704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39712" y="365760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863840" y="3657600"/>
            <a:ext cx="914400" cy="347472"/>
          </a:xfrm>
          <a:prstGeom prst="rect">
            <a:avLst/>
          </a:prstGeom>
          <a:solidFill>
            <a:srgbClr val="0F2620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18704" y="3657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1,500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56032" y="4041648"/>
            <a:ext cx="2816352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404164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Data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090672" y="4041648"/>
            <a:ext cx="2414016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45536" y="404164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search, Colab, API calls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522976" y="4041648"/>
            <a:ext cx="124358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77840" y="404164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784848" y="4041648"/>
            <a:ext cx="1060704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39712" y="40416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863840" y="4041648"/>
            <a:ext cx="914400" cy="347472"/>
          </a:xfrm>
          <a:prstGeom prst="rect">
            <a:avLst/>
          </a:prstGeom>
          <a:solidFill>
            <a:srgbClr val="0B2B26"/>
          </a:solidFill>
          <a:ln w="5080">
            <a:solidFill>
              <a:srgbClr val="16282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18704" y="4041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2,000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56032" y="4480560"/>
            <a:ext cx="8631936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4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4480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TOTAL ESTIMATED BUDGET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6656832" y="4480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~$5.00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7772400" y="44805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KES 5,145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B7B6B">
              <a:alpha val="28000"/>
            </a:srgbClr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108960" cy="3108960"/>
          </a:xfrm>
          <a:prstGeom prst="ellipse">
            <a:avLst/>
          </a:prstGeom>
          <a:solidFill>
            <a:srgbClr val="0B7B6B">
              <a:alpha val="22000"/>
            </a:srgbClr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9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F5F0"/>
                </a:solidFill>
              </a:rPr>
              <a:t>11 / 11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658368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7280" y="21579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 →  to decision  →  to lives saved.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26080" y="2560320"/>
            <a:ext cx="3291840" cy="0"/>
          </a:xfrm>
          <a:prstGeom prst="line">
            <a:avLst/>
          </a:prstGeom>
          <a:noFill/>
          <a:ln w="15240">
            <a:solidFill>
              <a:srgbClr val="1A9E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70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Selmah Tzindori Mise  ·  ID: 669602  ·  B.Sc. Data Science &amp; Analytics  ·  USIU-Africa  · 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626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for questions and feedback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3438144"/>
            <a:ext cx="1591056" cy="310896"/>
          </a:xfrm>
          <a:prstGeom prst="roundRect">
            <a:avLst>
              <a:gd name="adj" fmla="val 41176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43814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· TabNet · TabTransformer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093976" y="3438144"/>
            <a:ext cx="1591056" cy="310896"/>
          </a:xfrm>
          <a:prstGeom prst="roundRect">
            <a:avLst>
              <a:gd name="adj" fmla="val 41176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93976" y="343814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Inference (PyMC)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776472" y="3438144"/>
            <a:ext cx="1591056" cy="310896"/>
          </a:xfrm>
          <a:prstGeom prst="roundRect">
            <a:avLst>
              <a:gd name="adj" fmla="val 41176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76472" y="343814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58968" y="3438144"/>
            <a:ext cx="1591056" cy="310896"/>
          </a:xfrm>
          <a:prstGeom prst="roundRect">
            <a:avLst>
              <a:gd name="adj" fmla="val 41176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8968" y="343814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Integration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141464" y="3438144"/>
            <a:ext cx="1591056" cy="310896"/>
          </a:xfrm>
          <a:prstGeom prst="roundRect">
            <a:avLst>
              <a:gd name="adj" fmla="val 41176"/>
            </a:avLst>
          </a:prstGeom>
          <a:solidFill>
            <a:srgbClr val="0F2620"/>
          </a:solidFill>
          <a:ln w="10160">
            <a:solidFill>
              <a:srgbClr val="1A9E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41464" y="343814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KDHS 2022 · 10,391 women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56032" y="4882896"/>
            <a:ext cx="8631936" cy="0"/>
          </a:xfrm>
          <a:prstGeom prst="line">
            <a:avLst/>
          </a:prstGeom>
          <a:noFill/>
          <a:ln w="6350">
            <a:solidFill>
              <a:srgbClr val="1A9E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Selmah Tzindori Mise  ·  ID: 669602  ·  B.Sc. Data Science &amp; Analytics  ·  USIU-Africa  · 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 Risk Prediction — Full Proposal</dc:title>
  <dc:subject>PptxGenJS Presentation</dc:subject>
  <dc:creator>Selmah Tzindori Mise</dc:creator>
  <cp:lastModifiedBy>Selmah Tzindori Mise</cp:lastModifiedBy>
  <cp:revision>1</cp:revision>
  <dcterms:created xsi:type="dcterms:W3CDTF">2026-08-14T06:54:54Z</dcterms:created>
  <dcterms:modified xsi:type="dcterms:W3CDTF">2026-08-14T06:54:54Z</dcterms:modified>
</cp:coreProperties>
</file>