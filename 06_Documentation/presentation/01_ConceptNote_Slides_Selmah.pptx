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B7B6B">
              <a:alpha val="30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B7B6B">
              <a:alpha val="25000"/>
            </a:srgbClr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USIU-AFRICA  �  DSA 3900 u2014 Data Science Research Proposal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658368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Maternal Health Risk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Pregnant Women in Kenya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 and Bayesian Inference on the KDHS 2022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0" y="3182112"/>
            <a:ext cx="3657600" cy="0"/>
          </a:xfrm>
          <a:prstGeom prst="line">
            <a:avLst/>
          </a:prstGeom>
          <a:noFill/>
          <a:ln w="19050">
            <a:solidFill>
              <a:srgbClr val="1A9E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10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Selmah Tzindori Mise</a:t>
            </a:r>
            <a:pPr algn="ctr" indent="0" marL="0">
              <a:buNone/>
            </a:pPr>
            <a:r>
              <a:rPr lang="en-US" sz="12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�   ID: 669602   �   B.Sc. Data Science &amp; Analytics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210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USIU-Africa, Nairobi, Kenya   �   Summer Semester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4041648"/>
            <a:ext cx="2743200" cy="475488"/>
          </a:xfrm>
          <a:prstGeom prst="roundRect">
            <a:avLst>
              <a:gd name="adj" fmla="val 48077"/>
            </a:avLst>
          </a:prstGeom>
          <a:solidFill>
            <a:srgbClr val="02C39A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40416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NOTE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37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AF7"/>
                </a:solidFill>
              </a:rPr>
              <a:t>01 / 03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5029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960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01168" y="2011680"/>
            <a:ext cx="3035808" cy="1097280"/>
          </a:xfrm>
          <a:prstGeom prst="roundRect">
            <a:avLst>
              <a:gd name="adj" fmla="val 8333"/>
            </a:avLst>
          </a:prstGeom>
          <a:solidFill>
            <a:srgbClr val="0B2B26">
              <a:alpha val="7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2084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56032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deaths per 100,000 live births in Kenya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1168" y="320040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FAF7"/>
                </a:solidFill>
              </a:rPr>
              <a:t>Source: WHO / KDHS 2022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" y="3474720"/>
            <a:ext cx="3035808" cy="960120"/>
          </a:xfrm>
          <a:prstGeom prst="roundRect">
            <a:avLst>
              <a:gd name="adj" fmla="val 9524"/>
            </a:avLst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547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B26"/>
                </a:solidFill>
              </a:rPr>
              <a:t>SDG 3  </a:t>
            </a:r>
            <a:pPr algn="l" indent="0" marL="0">
              <a:buNone/>
            </a:pPr>
            <a:r>
              <a:rPr lang="en-US" sz="1100" dirty="0">
                <a:solidFill>
                  <a:srgbClr val="0B2B26"/>
                </a:solidFill>
              </a:rPr>
              <a:t>Good Health &amp; Well-Being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382219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directly targets SDG 3.1 — reducing the global maternal mortality ratio — and supports Kenya's Universal Health Coverage agenda.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926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274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65836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Kenya's 100,000+ Community Health Workers (CHWs) visit pregnant women daily but use paper checklists with no data-driven tool to identify which women face genuine complication risk before a crisis occurs. The result: missed referrals, delayed interventions, and preventable deaths.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11880" y="1536192"/>
            <a:ext cx="5303520" cy="0"/>
          </a:xfrm>
          <a:prstGeom prst="line">
            <a:avLst/>
          </a:prstGeom>
          <a:noFill/>
          <a:ln w="12700">
            <a:solidFill>
              <a:srgbClr val="1A9E8A"/>
            </a:solidFill>
            <a:prstDash val="dash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45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05072" y="1627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Others Have NOT Done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611880" y="2011680"/>
            <a:ext cx="1719072" cy="1417320"/>
          </a:xfrm>
          <a:prstGeom prst="roundRect">
            <a:avLst>
              <a:gd name="adj" fmla="val 5161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51960" y="208483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251960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685032" y="2560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County-Level Only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685032" y="285292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Kenyan ML studies predict statistics for entire counties — not individual women.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22392" y="2011680"/>
            <a:ext cx="1719072" cy="1417320"/>
          </a:xfrm>
          <a:prstGeom prst="roundRect">
            <a:avLst>
              <a:gd name="adj" fmla="val 5161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62472" y="208483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624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495544" y="2560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Hospital-Based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495544" y="285292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cohort models (preterm birth, haemorrhage) need clinical data CHWs don't have.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232904" y="2011680"/>
            <a:ext cx="1719072" cy="1417320"/>
          </a:xfrm>
          <a:prstGeom prst="roundRect">
            <a:avLst>
              <a:gd name="adj" fmla="val 5161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872984" y="208483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7298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✕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7306056" y="2560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Explanation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7306056" y="285292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tool explains risk in plain language or generates referral letters for CHWs.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611880" y="3547872"/>
            <a:ext cx="5349240" cy="1024128"/>
          </a:xfrm>
          <a:prstGeom prst="roundRect">
            <a:avLst>
              <a:gd name="adj" fmla="val 8929"/>
            </a:avLst>
          </a:prstGeom>
          <a:solidFill>
            <a:srgbClr val="02C39A">
              <a:alpha val="1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703320" y="3602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What This Project Does Differently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3703320" y="3895344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individual-level, probabilistic maternal risk scoring tool for Kenya built on the nationally representative KDHS 2022 dataset — deployable by CHWs with no clinical training, with AI-generated explanations and referral letters in English &amp; Swahili.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7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AF7"/>
                </a:solidFill>
              </a:rPr>
              <a:t>02 / 03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26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74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92608"/>
            <a:ext cx="34747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40680" y="274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4681728" y="228600"/>
            <a:ext cx="0" cy="4709160"/>
          </a:xfrm>
          <a:prstGeom prst="line">
            <a:avLst/>
          </a:prstGeom>
          <a:noFill/>
          <a:ln w="19050">
            <a:solidFill>
              <a:srgbClr val="1A9E8A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201168" y="804672"/>
            <a:ext cx="4315968" cy="1261872"/>
          </a:xfrm>
          <a:prstGeom prst="roundRect">
            <a:avLst>
              <a:gd name="adj" fmla="val 7246"/>
            </a:avLst>
          </a:prstGeom>
          <a:solidFill>
            <a:srgbClr val="112E29"/>
          </a:solidFill>
          <a:ln w="1905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92608" y="87782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6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ML Model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22960" y="118872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stacking ensemble (Random Forest + XGBoost + CatBoost) to classify individual maternal risk as Low, Moderate, or High using 13 KDHS 2022 variables.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01168" y="2194560"/>
            <a:ext cx="4315968" cy="1261872"/>
          </a:xfrm>
          <a:prstGeom prst="roundRect">
            <a:avLst>
              <a:gd name="adj" fmla="val 7246"/>
            </a:avLst>
          </a:prstGeom>
          <a:solidFill>
            <a:srgbClr val="0B7B6B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2608" y="22677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6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Uncertainty (Bayesian)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25786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PyMC Bayesian inference to produce a probability score and credible interval per prediction — e.g. 'High Risk, 84% confidence (CI: 76-91%)' — for more trustworthy CHW decisions.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01168" y="3584448"/>
            <a:ext cx="4315968" cy="1261872"/>
          </a:xfrm>
          <a:prstGeom prst="roundRect">
            <a:avLst>
              <a:gd name="adj" fmla="val 7246"/>
            </a:avLst>
          </a:prstGeom>
          <a:solidFill>
            <a:srgbClr val="112E29"/>
          </a:solidFill>
          <a:ln w="1905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92608" y="36576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B26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229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AI-Powered CHW Tool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2960" y="396849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Streamlit web app integrating the Claude API to generate plain-language explanations, care recommendations, and referral letters in English and Swahili.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28032" y="71323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257800" y="80467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85039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73752" y="13167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873752" y="159105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KDHS 2022 IR file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10,391 women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key variables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254496" y="71323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84264" y="80467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850392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00216" y="13167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00216" y="159105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· Encoding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· SMOTE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680960" y="71323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110728" y="80467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850392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726680" y="131673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726680" y="159105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(baseline) → RF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· CatBoost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Ensemble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828032" y="286207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257800" y="295351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999232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873752" y="34655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873752" y="373989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PyMC posterior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credible intervals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254496" y="286207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684264" y="295351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2999232"/>
            <a:ext cx="384048" cy="38404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300216" y="34655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6300216" y="373989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values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+ individual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7680960" y="2862072"/>
            <a:ext cx="1335024" cy="1920240"/>
          </a:xfrm>
          <a:prstGeom prst="roundRect">
            <a:avLst>
              <a:gd name="adj" fmla="val 6849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8110728" y="2953512"/>
            <a:ext cx="475488" cy="475488"/>
          </a:xfrm>
          <a:prstGeom prst="ellipse">
            <a:avLst/>
          </a:prstGeom>
          <a:solidFill>
            <a:srgbClr val="0B7B6B"/>
          </a:solidFill>
          <a:ln w="12700">
            <a:solidFill>
              <a:srgbClr val="0B7B6B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2999232"/>
            <a:ext cx="384048" cy="38404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726680" y="34655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7726680" y="3739896"/>
            <a:ext cx="1243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integration</a:t>
            </a:r>
            <a:endParaRPr lang="en-US" sz="9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&amp; Swahili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7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AF7"/>
                </a:solidFill>
              </a:rPr>
              <a:t>03 / 03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274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49808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→ to decision → to lives saved.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71600" y="1115568"/>
            <a:ext cx="475488" cy="475488"/>
          </a:xfrm>
          <a:prstGeom prst="ellipse">
            <a:avLst/>
          </a:prstGeom>
          <a:solidFill>
            <a:srgbClr val="02C39A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6128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" y="16093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92608" y="1901952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CHWs identify high-risk pregnant women before complications occur — enabling timely referrals and reducing preventable maternal deaths across Kenya's 47 counties.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145536" y="105156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15968" y="1115568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1612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36976" y="16093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Impact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236976" y="1901952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County-level risk dashboard gives the Ministry of Health and NGOs a real-time view of maternal vulnerability hotspots for targeted resource allocation.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089904" y="105156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60336" y="1115568"/>
            <a:ext cx="475488" cy="475488"/>
          </a:xfrm>
          <a:prstGeom prst="ellipse">
            <a:avLst/>
          </a:prstGeom>
          <a:solidFill>
            <a:srgbClr val="02C39A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116128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16093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Contribution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181344" y="1901952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individual-level, Bayesian ML maternal risk model built on KDHS 2022 — fills a confirmed research gap in Kenyan health informatics literature.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572768" y="301752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12E29"/>
          </a:solidFill>
          <a:ln w="12700">
            <a:solidFill>
              <a:srgbClr val="1A9E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743200" y="3081528"/>
            <a:ext cx="475488" cy="475488"/>
          </a:xfrm>
          <a:prstGeom prst="ellipse">
            <a:avLst/>
          </a:prstGeom>
          <a:solidFill>
            <a:srgbClr val="1A9E8A">
              <a:alpha val="80000"/>
            </a:srgbClr>
          </a:solidFill>
          <a:ln w="19050">
            <a:solidFill>
              <a:srgbClr val="1A9E8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312724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64208" y="35753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9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664208" y="3867912"/>
            <a:ext cx="2633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(Claude) integrated into a CHW tool for plain-language explanations and auto-drafted referral letters in English &amp; Swahili — a novel contribution.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636008" y="3017520"/>
            <a:ext cx="2816352" cy="1783080"/>
          </a:xfrm>
          <a:prstGeom prst="roundRect">
            <a:avLst>
              <a:gd name="adj" fmla="val 5128"/>
            </a:avLst>
          </a:prstGeom>
          <a:solidFill>
            <a:srgbClr val="112E2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806440" y="3081528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127248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27448" y="35753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&amp; UHC Alignment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727448" y="3867912"/>
            <a:ext cx="2633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0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advances SDG 3.1 (reduce maternal mortality) and Kenya's Universal Health Coverage agenda by placing data-driven tools in the hands of frontline workers.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Selmah Tzindori Mise  ·  ID: 669602  ·  B.Sc. Data Science &amp; Analytics  ·  USIU-Africa  ·  Summer Semester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 Risk Prediction — Concept Note</dc:title>
  <dc:subject>PptxGenJS Presentation</dc:subject>
  <dc:creator>Selmah Tzindori Mise</dc:creator>
  <cp:lastModifiedBy>Selmah Tzindori Mise</cp:lastModifiedBy>
  <cp:revision>1</cp:revision>
  <dcterms:created xsi:type="dcterms:W3CDTF">2026-07-02T11:55:54Z</dcterms:created>
  <dcterms:modified xsi:type="dcterms:W3CDTF">2026-07-02T11:55:54Z</dcterms:modified>
</cp:coreProperties>
</file>